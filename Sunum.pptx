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Inter" panose="020B0604020202020204" charset="0"/>
      <p:regular r:id="rId13"/>
      <p:bold r:id="rId14"/>
      <p:italic r:id="rId15"/>
      <p:boldItalic r:id="rId16"/>
    </p:embeddedFont>
    <p:embeddedFont>
      <p:font typeface="Inter ExtraBold" panose="020B0604020202020204" charset="0"/>
      <p:bold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DE30EA-9F60-441D-9466-B68C59584989}">
  <a:tblStyle styleId="{3BDE30EA-9F60-441D-9466-B68C5958498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32c76cce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g3b32c76cce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45908" y="4035366"/>
            <a:ext cx="2032000" cy="136144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2294572" y="1461194"/>
            <a:ext cx="7296912" cy="1421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Doğal Dil İşleme (NLP) ile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200" b="0" i="0" u="none" strike="noStrike" cap="non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E-Posta Spam Tespiti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584732" y="3072705"/>
            <a:ext cx="454456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Veri Madenciliği Dersi Proje Sunumu</a:t>
            </a:r>
            <a:endParaRPr/>
          </a:p>
        </p:txBody>
      </p:sp>
      <p:pic>
        <p:nvPicPr>
          <p:cNvPr id="89" name="Google Shape;89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36433" y="4235391"/>
            <a:ext cx="355600" cy="4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5136432" y="4759265"/>
            <a:ext cx="139060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Younes </a:t>
            </a:r>
            <a:r>
              <a:rPr lang="en-US" sz="1200" b="1" i="0" u="none" strike="noStrike" cap="none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Rahebi</a:t>
            </a:r>
            <a:endParaRPr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5136433" y="4949766"/>
            <a:ext cx="1198880" cy="17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B221210588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4644866" y="581025"/>
            <a:ext cx="228295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Proje Özeti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4695825" y="1143000"/>
            <a:ext cx="2174240" cy="4571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575684" y="2091142"/>
            <a:ext cx="527304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Bu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projenin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amacı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Enron Spam Veri Seti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kullanılarak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istenmeyen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e-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postaları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(Spam)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otomatik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tespit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eden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yüksek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başarımlı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bir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model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geliştirmektir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581025" y="3297356"/>
            <a:ext cx="5273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Veri Temizleme &amp; Ön İşleme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81025" y="3745031"/>
            <a:ext cx="5273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TF-IDF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ile Vektörleştirme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581025" y="4192706"/>
            <a:ext cx="52729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Logistic Regression &amp; Naive Bayes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581025" y="4640381"/>
            <a:ext cx="5273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%98.6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Doğruluk Oranı</a:t>
            </a:r>
            <a:endParaRPr/>
          </a:p>
        </p:txBody>
      </p:sp>
      <p:pic>
        <p:nvPicPr>
          <p:cNvPr id="107" name="Google Shape;10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2964" y="3368936"/>
            <a:ext cx="172720" cy="20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9100" y="3824287"/>
            <a:ext cx="172720" cy="20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9100" y="4295762"/>
            <a:ext cx="172720" cy="20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9100" y="4719637"/>
            <a:ext cx="172720" cy="20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500" y="2462212"/>
            <a:ext cx="5273040" cy="2560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00775" y="2757487"/>
            <a:ext cx="304800" cy="4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6200775" y="3281362"/>
            <a:ext cx="4875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Sonuç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200775" y="3652837"/>
            <a:ext cx="46432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Logistic Regression modeli, n-gram (1,2) özellikleriyle en yüksek performansı (AUC: 0.99) göstermiştir.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09812"/>
            <a:ext cx="5273040" cy="2885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500" y="2309812"/>
            <a:ext cx="5273040" cy="288544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3979783" y="581025"/>
            <a:ext cx="370179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Problem ve Amaç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4062412" y="1143000"/>
            <a:ext cx="3525520" cy="4571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300" y="2605087"/>
            <a:ext cx="406400" cy="4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876300" y="3128962"/>
            <a:ext cx="487527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Problem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876300" y="3500437"/>
            <a:ext cx="464312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Spam e-postalar güvenlik riski oluşturur (Phishing) ve zaman kaybına yol açar. Geleneksel kural tabanlı sistemler yetersiz kalmaktadır.</a:t>
            </a:r>
            <a:endParaRPr/>
          </a:p>
        </p:txBody>
      </p:sp>
      <p:pic>
        <p:nvPicPr>
          <p:cNvPr id="127" name="Google Shape;12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00775" y="2605087"/>
            <a:ext cx="406400" cy="4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6200775" y="3128962"/>
            <a:ext cx="487527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Amaç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200775" y="3500437"/>
            <a:ext cx="464312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Yapısal olmayan (unstructured) metin verilerini işleyerek, bir iletinin "Güvenli" veya "Zararlı" olduğuna karar veren istatistiksel bir model kurmak.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3424712" y="581025"/>
            <a:ext cx="488594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Veri Seti: Enron Corpus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3533775" y="1143000"/>
            <a:ext cx="4653280" cy="4571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581025" y="2744906"/>
            <a:ext cx="5273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Kaynak: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Enron Şirketi E-Posta Veritabanı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581025" y="3192581"/>
            <a:ext cx="5273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Boyut: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33.000+ E-posta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581025" y="3613190"/>
            <a:ext cx="527296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Dağılım: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Ham ve Spam sınıfları sayıca birbirine yakındır (Dengeli).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580988" y="4328494"/>
            <a:ext cx="52729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Özellikler: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Subject (Konu) + Message (İçerik)</a:t>
            </a:r>
            <a:endParaRPr/>
          </a:p>
        </p:txBody>
      </p:sp>
      <p:pic>
        <p:nvPicPr>
          <p:cNvPr id="141" name="Google Shape;14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9100" y="2824162"/>
            <a:ext cx="172720" cy="20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9100" y="3271837"/>
            <a:ext cx="172720" cy="20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9100" y="3719512"/>
            <a:ext cx="172720" cy="20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9100" y="4393098"/>
            <a:ext cx="172720" cy="20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3948" y="1723072"/>
            <a:ext cx="5669280" cy="3992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79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43137"/>
            <a:ext cx="3515360" cy="2998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67175" y="2243137"/>
            <a:ext cx="3515360" cy="2998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53325" y="2243137"/>
            <a:ext cx="3515360" cy="2998244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3414712" y="1347787"/>
            <a:ext cx="49072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Veri Ön İşleme Adımları</a:t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3524250" y="1909762"/>
            <a:ext cx="4673600" cy="4571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876300" y="2538412"/>
            <a:ext cx="288544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876300" y="3195637"/>
            <a:ext cx="302971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Birleştirme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876300" y="3567111"/>
            <a:ext cx="288544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Konu ve Mesaj sütunları birleştirilerek zengin metin oluşturuldu.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4362450" y="2538412"/>
            <a:ext cx="288544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4362450" y="3195637"/>
            <a:ext cx="302971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Temizleme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4362450" y="3567112"/>
            <a:ext cx="288544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Regex ile URL, noktalama işaretleri ve sayılar temizlendi. Küçük harfe çevrildi.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7848600" y="2538412"/>
            <a:ext cx="288544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7848600" y="3195637"/>
            <a:ext cx="302971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Ayrıştırma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7848600" y="3567112"/>
            <a:ext cx="288544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Veri %80 Eğitim, %20 Test olarak (Stratified) ayrıldı.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219450"/>
            <a:ext cx="5273040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500" y="3067050"/>
            <a:ext cx="5273040" cy="200152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3399709" y="581025"/>
            <a:ext cx="493928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Özellik Çıkarımı: TF-IDF</a:t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3509962" y="1143000"/>
            <a:ext cx="4704080" cy="4571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1452562" y="1476375"/>
            <a:ext cx="9093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Metinleri sayılara dönüştürmek için Term Frequency - Inverse Document Frequency kullanıldı.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876300" y="3514725"/>
            <a:ext cx="487527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Max Features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876300" y="3886200"/>
            <a:ext cx="464312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 sık geçen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5000 kelime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seçilerek gürültü azaltıldı.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6200775" y="3362325"/>
            <a:ext cx="487527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1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N-Grams (1,2)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6200775" y="3733800"/>
            <a:ext cx="464312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Sadece tek kelimelere ("credit") değil, kelime gruplarına da ("credit card") bakılarak bağlam yakalandı.</a:t>
            </a:r>
            <a:endParaRPr/>
          </a:p>
        </p:txBody>
      </p:sp>
      <p:pic>
        <p:nvPicPr>
          <p:cNvPr id="179" name="Google Shape;17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8200" y="3533775"/>
            <a:ext cx="243840" cy="243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62675" y="3381375"/>
            <a:ext cx="274320" cy="243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/>
        </p:nvSpPr>
        <p:spPr>
          <a:xfrm>
            <a:off x="3544727" y="1633537"/>
            <a:ext cx="462991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Model Karşılaştırması</a:t>
            </a: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3648075" y="2195512"/>
            <a:ext cx="4409440" cy="4571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1981200" y="2528887"/>
            <a:ext cx="79654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Logistic Regression, özellikle n-gram ilişkilerini yakalamadaki başarısı ile öne çıktı.</a:t>
            </a:r>
            <a:endParaRPr/>
          </a:p>
        </p:txBody>
      </p:sp>
      <p:graphicFrame>
        <p:nvGraphicFramePr>
          <p:cNvPr id="189" name="Google Shape;189;p19"/>
          <p:cNvGraphicFramePr/>
          <p:nvPr>
            <p:extLst>
              <p:ext uri="{D42A27DB-BD31-4B8C-83A1-F6EECF244321}">
                <p14:modId xmlns:p14="http://schemas.microsoft.com/office/powerpoint/2010/main" val="1355678439"/>
              </p:ext>
            </p:extLst>
          </p:nvPr>
        </p:nvGraphicFramePr>
        <p:xfrm>
          <a:off x="581024" y="3024187"/>
          <a:ext cx="10942347" cy="1889760"/>
        </p:xfrm>
        <a:graphic>
          <a:graphicData uri="http://schemas.openxmlformats.org/drawingml/2006/table">
            <a:tbl>
              <a:tblPr firstRow="1" bandRow="1">
                <a:noFill/>
                <a:tableStyleId>{3BDE30EA-9F60-441D-9466-B68C59584989}</a:tableStyleId>
              </a:tblPr>
              <a:tblGrid>
                <a:gridCol w="305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3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4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42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99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2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2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Accuracy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2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Precision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2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Recall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2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F1-Score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20" b="1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9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369A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Logistic Regression</a:t>
                      </a:r>
                      <a:endParaRPr/>
                    </a:p>
                  </a:txBody>
                  <a:tcPr marL="3810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6A34A"/>
                          </a:solidFill>
                          <a:latin typeface="Inter ExtraBold"/>
                          <a:ea typeface="Inter ExtraBold"/>
                          <a:cs typeface="Inter ExtraBold"/>
                          <a:sym typeface="Inter ExtraBold"/>
                        </a:rPr>
                        <a:t>0.986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6A34A"/>
                          </a:solidFill>
                          <a:latin typeface="Inter ExtraBold"/>
                          <a:ea typeface="Inter ExtraBold"/>
                          <a:cs typeface="Inter ExtraBold"/>
                          <a:sym typeface="Inter ExtraBold"/>
                        </a:rPr>
                        <a:t>0.977</a:t>
                      </a:r>
                      <a:endParaRPr sz="1200">
                        <a:solidFill>
                          <a:srgbClr val="0F172A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6A34A"/>
                          </a:solidFill>
                          <a:latin typeface="Inter ExtraBold"/>
                          <a:ea typeface="Inter ExtraBold"/>
                          <a:cs typeface="Inter ExtraBold"/>
                          <a:sym typeface="Inter ExtraBold"/>
                        </a:rPr>
                        <a:t>0.993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6A34A"/>
                          </a:solidFill>
                          <a:latin typeface="Inter ExtraBold"/>
                          <a:ea typeface="Inter ExtraBold"/>
                          <a:cs typeface="Inter ExtraBold"/>
                          <a:sym typeface="Inter ExtraBold"/>
                        </a:rPr>
                        <a:t>0.985</a:t>
                      </a:r>
                      <a:endParaRPr sz="1200" b="1">
                        <a:solidFill>
                          <a:srgbClr val="16A34A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6A34A"/>
                          </a:solidFill>
                          <a:latin typeface="Inter ExtraBold"/>
                          <a:ea typeface="Inter ExtraBold"/>
                          <a:cs typeface="Inter ExtraBold"/>
                          <a:sym typeface="Inter ExtraBold"/>
                        </a:rPr>
                        <a:t>0.999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9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Naive Bayes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0.979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0.975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0.981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0.978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0.998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0" name="Google Shape;190;p19"/>
          <p:cNvSpPr/>
          <p:nvPr/>
        </p:nvSpPr>
        <p:spPr>
          <a:xfrm>
            <a:off x="585787" y="3605211"/>
            <a:ext cx="3059270" cy="45719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3453854" y="3605211"/>
            <a:ext cx="1889760" cy="45719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5225504" y="3605211"/>
            <a:ext cx="1797209" cy="45719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6910387" y="3605211"/>
            <a:ext cx="1440338" cy="45719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8260705" y="3605211"/>
            <a:ext cx="1691481" cy="45719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9846468" y="3605211"/>
            <a:ext cx="1064259" cy="45719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585787" y="4200525"/>
            <a:ext cx="3059270" cy="4571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3453854" y="4200525"/>
            <a:ext cx="1889760" cy="4571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5225504" y="4200525"/>
            <a:ext cx="1797209" cy="4571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6910387" y="4200525"/>
            <a:ext cx="1440338" cy="4571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8260705" y="4200525"/>
            <a:ext cx="1691481" cy="4571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9846468" y="4200525"/>
            <a:ext cx="1064259" cy="4571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2490" y="3843337"/>
            <a:ext cx="182880" cy="162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2490" y="3843337"/>
            <a:ext cx="182880" cy="162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4394835" y="581025"/>
            <a:ext cx="281635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Görsel Analiz</a:t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4457700" y="1143000"/>
            <a:ext cx="2682240" cy="4571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825" y="1372136"/>
            <a:ext cx="11927840" cy="497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4394835" y="581025"/>
            <a:ext cx="281632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Görsel Analiz</a:t>
            </a:r>
            <a:endParaRPr/>
          </a:p>
        </p:txBody>
      </p:sp>
      <p:sp>
        <p:nvSpPr>
          <p:cNvPr id="218" name="Google Shape;218;p21"/>
          <p:cNvSpPr/>
          <p:nvPr/>
        </p:nvSpPr>
        <p:spPr>
          <a:xfrm>
            <a:off x="4457700" y="1142999"/>
            <a:ext cx="2682240" cy="4571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4125" y="1271774"/>
            <a:ext cx="7020560" cy="5277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476375"/>
            <a:ext cx="10952480" cy="1280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967037"/>
            <a:ext cx="5273040" cy="2265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05500" y="3119437"/>
            <a:ext cx="5273040" cy="194056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/>
        </p:nvSpPr>
        <p:spPr>
          <a:xfrm>
            <a:off x="2849641" y="581025"/>
            <a:ext cx="611276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Sonuç ve Gelecek Çalışmalar</a:t>
            </a:r>
            <a:endParaRPr/>
          </a:p>
        </p:txBody>
      </p:sp>
      <p:sp>
        <p:nvSpPr>
          <p:cNvPr id="229" name="Google Shape;229;p22"/>
          <p:cNvSpPr/>
          <p:nvPr/>
        </p:nvSpPr>
        <p:spPr>
          <a:xfrm>
            <a:off x="2986087" y="1143000"/>
            <a:ext cx="5821680" cy="4571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5014912" y="5572125"/>
            <a:ext cx="14935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Teşekkürler.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876300" y="1771650"/>
            <a:ext cx="914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rPr>
              <a:t>Başarı:</a:t>
            </a:r>
            <a:r>
              <a:rPr lang="en-US" sz="1500" b="0" i="0" u="none" strike="noStrike" cap="none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rPr>
              <a:t> Basit ve hızlı algoritmalarla (LogReg + TF-IDF) %98.6 gibi çok yüksek bir başarı elde edildi.</a:t>
            </a:r>
            <a:endParaRPr/>
          </a:p>
        </p:txBody>
      </p:sp>
      <p:pic>
        <p:nvPicPr>
          <p:cNvPr id="232" name="Google Shape;232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5586" y="1863986"/>
            <a:ext cx="2032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2"/>
          <p:cNvSpPr txBox="1"/>
          <p:nvPr/>
        </p:nvSpPr>
        <p:spPr>
          <a:xfrm>
            <a:off x="876300" y="3262312"/>
            <a:ext cx="487527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Kısıtlar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876300" y="3881437"/>
            <a:ext cx="464312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Model sadece eğitim setindeki kelime dağarcığı ile sınırlıdır. Yeni türetilen spam kelimelerini kaçırabilir.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6200775" y="3414712"/>
            <a:ext cx="487527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Gelecek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6200775" y="4033837"/>
            <a:ext cx="464312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LSTM veya BERT gibi Derin Öğrenme modelleri ile anlamsal bağlam daha iyi yakalanabilir.</a:t>
            </a:r>
            <a:endParaRPr/>
          </a:p>
        </p:txBody>
      </p:sp>
      <p:pic>
        <p:nvPicPr>
          <p:cNvPr id="237" name="Google Shape;237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95575" y="3238512"/>
            <a:ext cx="406400" cy="40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103975" y="3414712"/>
            <a:ext cx="406400" cy="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366</Words>
  <Application>Microsoft Office PowerPoint</Application>
  <PresentationFormat>Widescreen</PresentationFormat>
  <Paragraphs>67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Inter</vt:lpstr>
      <vt:lpstr>Inter ExtraBold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Younes Ra</cp:lastModifiedBy>
  <cp:revision>2</cp:revision>
  <dcterms:modified xsi:type="dcterms:W3CDTF">2026-01-01T22:52:54Z</dcterms:modified>
</cp:coreProperties>
</file>